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02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le medio 2 - Color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027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120" y="2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pPr algn="r"/>
            <a:fld id="{3F9AFA87-1417-4992-ABD9-27C3BC8CC883}" type="datetimeFigureOut">
              <a:rPr lang="en-US" smtClean="0"/>
              <a:pPr algn="r"/>
              <a:t>2/5/2025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 sz="100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CB1E4CB7-CB13-4810-BF18-BE31AFC64F93}" type="slidenum">
              <a:rPr lang="en-US" smtClean="0"/>
              <a:pPr/>
              <a:t>‹N›</a:t>
            </a:fld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2106441605"/>
      </p:ext>
    </p:extLst>
  </p:cSld>
  <p:clrMapOvr>
    <a:masterClrMapping/>
  </p:clrMapOvr>
  <p:transition spd="slow">
    <p:push dir="u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3F9AFA87-1417-4992-ABD9-27C3BC8CC883}" type="datetimeFigureOut">
              <a:rPr lang="en-US" smtClean="0"/>
              <a:pPr algn="r"/>
              <a:t>2/5/2025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sz="100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E4CB7-CB13-4810-BF18-BE31AFC64F93}" type="slidenum">
              <a:rPr lang="en-US" smtClean="0"/>
              <a:pPr/>
              <a:t>‹N›</a:t>
            </a:fld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4373523"/>
      </p:ext>
    </p:extLst>
  </p:cSld>
  <p:clrMapOvr>
    <a:masterClrMapping/>
  </p:clrMapOvr>
  <p:transition spd="slow">
    <p:push dir="u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3F9AFA87-1417-4992-ABD9-27C3BC8CC883}" type="datetimeFigureOut">
              <a:rPr lang="en-US" smtClean="0"/>
              <a:pPr algn="r"/>
              <a:t>2/5/2025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sz="100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E4CB7-CB13-4810-BF18-BE31AFC64F93}" type="slidenum">
              <a:rPr lang="en-US" smtClean="0"/>
              <a:pPr/>
              <a:t>‹N›</a:t>
            </a:fld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2002162703"/>
      </p:ext>
    </p:extLst>
  </p:cSld>
  <p:clrMapOvr>
    <a:masterClrMapping/>
  </p:clrMapOvr>
  <p:transition spd="slow">
    <p:push dir="u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3F9AFA87-1417-4992-ABD9-27C3BC8CC883}" type="datetimeFigureOut">
              <a:rPr lang="en-US" smtClean="0"/>
              <a:pPr algn="r"/>
              <a:t>2/5/2025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sz="100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E4CB7-CB13-4810-BF18-BE31AFC64F93}" type="slidenum">
              <a:rPr lang="en-US" smtClean="0"/>
              <a:pPr/>
              <a:t>‹N›</a:t>
            </a:fld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2541267957"/>
      </p:ext>
    </p:extLst>
  </p:cSld>
  <p:clrMapOvr>
    <a:masterClrMapping/>
  </p:clrMapOvr>
  <p:transition spd="slow">
    <p:push dir="u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3F9AFA87-1417-4992-ABD9-27C3BC8CC883}" type="datetimeFigureOut">
              <a:rPr lang="en-US" smtClean="0"/>
              <a:pPr algn="r"/>
              <a:t>2/5/2025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sz="1000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E4CB7-CB13-4810-BF18-BE31AFC64F93}" type="slidenum">
              <a:rPr lang="en-US" smtClean="0"/>
              <a:pPr/>
              <a:t>‹N›</a:t>
            </a:fld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841007121"/>
      </p:ext>
    </p:extLst>
  </p:cSld>
  <p:clrMapOvr>
    <a:masterClrMapping/>
  </p:clrMapOvr>
  <p:transition spd="slow">
    <p:push dir="u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3F9AFA87-1417-4992-ABD9-27C3BC8CC883}" type="datetimeFigureOut">
              <a:rPr lang="en-US" smtClean="0"/>
              <a:pPr algn="r"/>
              <a:t>2/5/2025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sz="10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E4CB7-CB13-4810-BF18-BE31AFC64F93}" type="slidenum">
              <a:rPr lang="en-US" smtClean="0"/>
              <a:pPr/>
              <a:t>‹N›</a:t>
            </a:fld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3263157680"/>
      </p:ext>
    </p:extLst>
  </p:cSld>
  <p:clrMapOvr>
    <a:masterClrMapping/>
  </p:clrMapOvr>
  <p:transition spd="slow">
    <p:push dir="u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3F9AFA87-1417-4992-ABD9-27C3BC8CC883}" type="datetimeFigureOut">
              <a:rPr lang="en-US" smtClean="0"/>
              <a:pPr algn="r"/>
              <a:t>2/5/2025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sz="1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E4CB7-CB13-4810-BF18-BE31AFC64F93}" type="slidenum">
              <a:rPr lang="en-US" smtClean="0"/>
              <a:pPr/>
              <a:t>‹N›</a:t>
            </a:fld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3566606231"/>
      </p:ext>
    </p:extLst>
  </p:cSld>
  <p:clrMapOvr>
    <a:masterClrMapping/>
  </p:clrMapOvr>
  <p:transition spd="slow">
    <p:push dir="u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3F9AFA87-1417-4992-ABD9-27C3BC8CC883}" type="datetimeFigureOut">
              <a:rPr lang="en-US" smtClean="0"/>
              <a:pPr algn="r"/>
              <a:t>2/5/2025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sz="100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E4CB7-CB13-4810-BF18-BE31AFC64F93}" type="slidenum">
              <a:rPr lang="en-US" smtClean="0"/>
              <a:pPr/>
              <a:t>‹N›</a:t>
            </a:fld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3332819081"/>
      </p:ext>
    </p:extLst>
  </p:cSld>
  <p:clrMapOvr>
    <a:masterClrMapping/>
  </p:clrMapOvr>
  <p:transition spd="slow">
    <p:push dir="u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it-IT"/>
              <a:t>Fare clic sull'icona per inserire un'immagine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3F9AFA87-1417-4992-ABD9-27C3BC8CC883}" type="datetimeFigureOut">
              <a:rPr lang="en-US" smtClean="0"/>
              <a:pPr algn="r"/>
              <a:t>2/5/2025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sz="100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E4CB7-CB13-4810-BF18-BE31AFC64F93}" type="slidenum">
              <a:rPr lang="en-US" smtClean="0"/>
              <a:pPr/>
              <a:t>‹N›</a:t>
            </a:fld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3780169113"/>
      </p:ext>
    </p:extLst>
  </p:cSld>
  <p:clrMapOvr>
    <a:masterClrMapping/>
  </p:clrMapOvr>
  <p:transition spd="slow">
    <p:push dir="u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magine panoramica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it-IT"/>
              <a:t>Fare clic sull'icona per inserire un'immagine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3F9AFA87-1417-4992-ABD9-27C3BC8CC883}" type="datetimeFigureOut">
              <a:rPr lang="en-US" smtClean="0"/>
              <a:pPr algn="r"/>
              <a:t>2/5/2025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sz="100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E4CB7-CB13-4810-BF18-BE31AFC64F93}" type="slidenum">
              <a:rPr lang="en-US" smtClean="0"/>
              <a:pPr/>
              <a:t>‹N›</a:t>
            </a:fld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824291294"/>
      </p:ext>
    </p:extLst>
  </p:cSld>
  <p:clrMapOvr>
    <a:masterClrMapping/>
  </p:clrMapOvr>
  <p:transition spd="slow">
    <p:push dir="u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olo e sotto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3F9AFA87-1417-4992-ABD9-27C3BC8CC883}" type="datetimeFigureOut">
              <a:rPr lang="en-US" smtClean="0"/>
              <a:pPr algn="r"/>
              <a:t>2/5/2025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sz="100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E4CB7-CB13-4810-BF18-BE31AFC64F93}" type="slidenum">
              <a:rPr lang="en-US" smtClean="0"/>
              <a:pPr/>
              <a:t>‹N›</a:t>
            </a:fld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333164473"/>
      </p:ext>
    </p:extLst>
  </p:cSld>
  <p:clrMapOvr>
    <a:masterClrMapping/>
  </p:clrMapOvr>
  <p:transition spd="slow">
    <p:push dir="u"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zio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3F9AFA87-1417-4992-ABD9-27C3BC8CC883}" type="datetimeFigureOut">
              <a:rPr lang="en-US" smtClean="0"/>
              <a:pPr algn="r"/>
              <a:t>2/5/2025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sz="100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E4CB7-CB13-4810-BF18-BE31AFC64F93}" type="slidenum">
              <a:rPr lang="en-US" smtClean="0"/>
              <a:pPr/>
              <a:t>‹N›</a:t>
            </a:fld>
            <a:endParaRPr lang="en-US" sz="1000" dirty="0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02065488"/>
      </p:ext>
    </p:extLst>
  </p:cSld>
  <p:clrMapOvr>
    <a:masterClrMapping/>
  </p:clrMapOvr>
  <p:transition spd="slow">
    <p:push dir="u"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cheda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3F9AFA87-1417-4992-ABD9-27C3BC8CC883}" type="datetimeFigureOut">
              <a:rPr lang="en-US" smtClean="0"/>
              <a:pPr algn="r"/>
              <a:t>2/5/2025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sz="100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E4CB7-CB13-4810-BF18-BE31AFC64F93}" type="slidenum">
              <a:rPr lang="en-US" smtClean="0"/>
              <a:pPr/>
              <a:t>‹N›</a:t>
            </a:fld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202782920"/>
      </p:ext>
    </p:extLst>
  </p:cSld>
  <p:clrMapOvr>
    <a:masterClrMapping/>
  </p:clrMapOvr>
  <p:transition spd="slow">
    <p:push dir="u"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on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3F9AFA87-1417-4992-ABD9-27C3BC8CC883}" type="datetimeFigureOut">
              <a:rPr lang="en-US" smtClean="0"/>
              <a:pPr algn="r"/>
              <a:t>2/5/2025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sz="10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E4CB7-CB13-4810-BF18-BE31AFC64F93}" type="slidenum">
              <a:rPr lang="en-US" smtClean="0"/>
              <a:pPr/>
              <a:t>‹N›</a:t>
            </a:fld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2229992037"/>
      </p:ext>
    </p:extLst>
  </p:cSld>
  <p:clrMapOvr>
    <a:masterClrMapping/>
  </p:clrMapOvr>
  <p:transition spd="slow">
    <p:push dir="u"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onne immag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it-IT"/>
              <a:t>Fare clic sull'icona per inserire un'immagine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it-IT"/>
              <a:t>Fare clic sull'icona per inserire un'immagine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it-IT"/>
              <a:t>Fare clic sull'icona per inserire un'immagine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3F9AFA87-1417-4992-ABD9-27C3BC8CC883}" type="datetimeFigureOut">
              <a:rPr lang="en-US" smtClean="0"/>
              <a:pPr algn="r"/>
              <a:t>2/5/2025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sz="10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E4CB7-CB13-4810-BF18-BE31AFC64F93}" type="slidenum">
              <a:rPr lang="en-US" smtClean="0"/>
              <a:pPr/>
              <a:t>‹N›</a:t>
            </a:fld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3348399456"/>
      </p:ext>
    </p:extLst>
  </p:cSld>
  <p:clrMapOvr>
    <a:masterClrMapping/>
  </p:clrMapOvr>
  <p:transition spd="slow">
    <p:push dir="u"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3F9AFA87-1417-4992-ABD9-27C3BC8CC883}" type="datetimeFigureOut">
              <a:rPr lang="en-US" smtClean="0"/>
              <a:pPr algn="r"/>
              <a:t>2/5/2025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sz="100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E4CB7-CB13-4810-BF18-BE31AFC64F93}" type="slidenum">
              <a:rPr lang="en-US" smtClean="0"/>
              <a:pPr/>
              <a:t>‹N›</a:t>
            </a:fld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77892432"/>
      </p:ext>
    </p:extLst>
  </p:cSld>
  <p:clrMapOvr>
    <a:masterClrMapping/>
  </p:clrMapOvr>
  <p:transition spd="slow">
    <p:push dir="u"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3F9AFA87-1417-4992-ABD9-27C3BC8CC883}" type="datetimeFigureOut">
              <a:rPr lang="en-US" smtClean="0"/>
              <a:pPr algn="r"/>
              <a:t>2/5/2025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sz="100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E4CB7-CB13-4810-BF18-BE31AFC64F93}" type="slidenum">
              <a:rPr lang="en-US" smtClean="0"/>
              <a:pPr/>
              <a:t>‹N›</a:t>
            </a:fld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3258054697"/>
      </p:ext>
    </p:extLst>
  </p:cSld>
  <p:clrMapOvr>
    <a:masterClrMapping/>
  </p:clrMapOvr>
  <p:transition spd="slow">
    <p:push dir="u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r"/>
            <a:fld id="{3F9AFA87-1417-4992-ABD9-27C3BC8CC883}" type="datetimeFigureOut">
              <a:rPr lang="en-US" smtClean="0"/>
              <a:pPr algn="r"/>
              <a:t>2/5/2025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sz="100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1E4CB7-CB13-4810-BF18-BE31AFC64F93}" type="slidenum">
              <a:rPr lang="en-US" smtClean="0"/>
              <a:pPr/>
              <a:t>‹N›</a:t>
            </a:fld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296097482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03" r:id="rId1"/>
    <p:sldLayoutId id="2147483804" r:id="rId2"/>
    <p:sldLayoutId id="2147483805" r:id="rId3"/>
    <p:sldLayoutId id="2147483806" r:id="rId4"/>
    <p:sldLayoutId id="2147483807" r:id="rId5"/>
    <p:sldLayoutId id="2147483808" r:id="rId6"/>
    <p:sldLayoutId id="2147483809" r:id="rId7"/>
    <p:sldLayoutId id="2147483810" r:id="rId8"/>
    <p:sldLayoutId id="2147483811" r:id="rId9"/>
    <p:sldLayoutId id="2147483812" r:id="rId10"/>
    <p:sldLayoutId id="2147483813" r:id="rId11"/>
    <p:sldLayoutId id="2147483814" r:id="rId12"/>
    <p:sldLayoutId id="2147483815" r:id="rId13"/>
    <p:sldLayoutId id="2147483816" r:id="rId14"/>
    <p:sldLayoutId id="2147483817" r:id="rId15"/>
    <p:sldLayoutId id="2147483818" r:id="rId16"/>
    <p:sldLayoutId id="2147483819" r:id="rId17"/>
  </p:sldLayoutIdLst>
  <p:transition spd="slow">
    <p:push dir="u"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9955AA1-EED3-47B3-A372-F98DD755C76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93390" y="743805"/>
            <a:ext cx="3355851" cy="3793482"/>
          </a:xfrm>
        </p:spPr>
        <p:txBody>
          <a:bodyPr anchor="ctr">
            <a:normAutofit/>
          </a:bodyPr>
          <a:lstStyle/>
          <a:p>
            <a:r>
              <a:rPr lang="it-IT" dirty="0"/>
              <a:t>League of </a:t>
            </a:r>
            <a:r>
              <a:rPr lang="it-IT" dirty="0" err="1"/>
              <a:t>Legends</a:t>
            </a:r>
            <a:r>
              <a:rPr lang="it-IT" dirty="0"/>
              <a:t> </a:t>
            </a:r>
            <a:r>
              <a:rPr lang="it-IT" dirty="0" err="1"/>
              <a:t>Roles</a:t>
            </a:r>
            <a:r>
              <a:rPr lang="it-IT" dirty="0"/>
              <a:t> </a:t>
            </a:r>
            <a:r>
              <a:rPr lang="it-IT" dirty="0" err="1"/>
              <a:t>analysis</a:t>
            </a:r>
            <a:endParaRPr lang="it-IT" dirty="0"/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34CC253F-9C71-4E9C-9C6B-A732095F99C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69592" y="4691564"/>
            <a:ext cx="3279650" cy="1422631"/>
          </a:xfrm>
        </p:spPr>
        <p:txBody>
          <a:bodyPr>
            <a:normAutofit/>
          </a:bodyPr>
          <a:lstStyle/>
          <a:p>
            <a:r>
              <a:rPr lang="it-IT" dirty="0"/>
              <a:t>Relato Alessandro</a:t>
            </a:r>
          </a:p>
          <a:p>
            <a:r>
              <a:rPr lang="it-IT" sz="2000" dirty="0"/>
              <a:t>Advanced Data Science – 2024/2025</a:t>
            </a:r>
          </a:p>
        </p:txBody>
      </p:sp>
      <p:pic>
        <p:nvPicPr>
          <p:cNvPr id="16" name="Picture 3" descr="Disegno astratto che indica la connessione di rete su sfondo bianco">
            <a:extLst>
              <a:ext uri="{FF2B5EF4-FFF2-40B4-BE49-F238E27FC236}">
                <a16:creationId xmlns:a16="http://schemas.microsoft.com/office/drawing/2014/main" id="{EA0B3E6D-7A6D-8D0D-3C5D-4DDAC90155A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33397" b="-1"/>
          <a:stretch/>
        </p:blipFill>
        <p:spPr>
          <a:xfrm>
            <a:off x="5349241" y="10"/>
            <a:ext cx="6842759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1301315"/>
      </p:ext>
    </p:extLst>
  </p:cSld>
  <p:clrMapOvr>
    <a:masterClrMapping/>
  </p:clrMapOvr>
  <p:transition spd="slow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egnaposto testo 7">
            <a:extLst>
              <a:ext uri="{FF2B5EF4-FFF2-40B4-BE49-F238E27FC236}">
                <a16:creationId xmlns:a16="http://schemas.microsoft.com/office/drawing/2014/main" id="{46037EFD-5258-41F9-891C-A7A0CE49ABE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954476" y="3981451"/>
            <a:ext cx="8283045" cy="2057399"/>
          </a:xfrm>
        </p:spPr>
        <p:txBody>
          <a:bodyPr>
            <a:normAutofit fontScale="92500" lnSpcReduction="10000"/>
          </a:bodyPr>
          <a:lstStyle/>
          <a:p>
            <a:pPr algn="just"/>
            <a:r>
              <a:rPr lang="it-IT" sz="2000" dirty="0"/>
              <a:t>League of </a:t>
            </a:r>
            <a:r>
              <a:rPr lang="it-IT" sz="2000" dirty="0" err="1"/>
              <a:t>legends</a:t>
            </a:r>
            <a:r>
              <a:rPr lang="it-IT" sz="2000" dirty="0"/>
              <a:t> </a:t>
            </a:r>
            <a:r>
              <a:rPr lang="it-IT" sz="2000" dirty="0" err="1"/>
              <a:t>is</a:t>
            </a:r>
            <a:r>
              <a:rPr lang="it-IT" sz="2000" dirty="0"/>
              <a:t> a videogame </a:t>
            </a:r>
            <a:r>
              <a:rPr lang="it-IT" sz="2000" dirty="0" err="1"/>
              <a:t>created</a:t>
            </a:r>
            <a:r>
              <a:rPr lang="it-IT" sz="2000" dirty="0"/>
              <a:t> by Riot Games in </a:t>
            </a:r>
            <a:r>
              <a:rPr lang="it-IT" sz="2000" dirty="0" err="1"/>
              <a:t>which</a:t>
            </a:r>
            <a:r>
              <a:rPr lang="it-IT" sz="2000" dirty="0"/>
              <a:t> 2 teams of 5 players </a:t>
            </a:r>
            <a:r>
              <a:rPr lang="it-IT" sz="2000" dirty="0" err="1"/>
              <a:t>combat</a:t>
            </a:r>
            <a:r>
              <a:rPr lang="it-IT" sz="2000" dirty="0"/>
              <a:t> </a:t>
            </a:r>
            <a:r>
              <a:rPr lang="it-IT" sz="2000" dirty="0" err="1"/>
              <a:t>against</a:t>
            </a:r>
            <a:r>
              <a:rPr lang="it-IT" sz="2000" dirty="0"/>
              <a:t> </a:t>
            </a:r>
            <a:r>
              <a:rPr lang="it-IT" sz="2000" dirty="0" err="1"/>
              <a:t>each</a:t>
            </a:r>
            <a:r>
              <a:rPr lang="it-IT" sz="2000" dirty="0"/>
              <a:t> </a:t>
            </a:r>
            <a:r>
              <a:rPr lang="it-IT" sz="2000" dirty="0" err="1"/>
              <a:t>other</a:t>
            </a:r>
            <a:r>
              <a:rPr lang="it-IT" sz="2000" dirty="0"/>
              <a:t> </a:t>
            </a:r>
            <a:r>
              <a:rPr lang="it-IT" sz="2000" dirty="0" err="1"/>
              <a:t>aiming</a:t>
            </a:r>
            <a:r>
              <a:rPr lang="it-IT" sz="2000" dirty="0"/>
              <a:t> to </a:t>
            </a:r>
            <a:r>
              <a:rPr lang="it-IT" sz="2000" dirty="0" err="1"/>
              <a:t>destroy</a:t>
            </a:r>
            <a:r>
              <a:rPr lang="it-IT" sz="2000" dirty="0"/>
              <a:t> the </a:t>
            </a:r>
            <a:r>
              <a:rPr lang="it-IT" sz="2000" dirty="0" err="1"/>
              <a:t>enemy</a:t>
            </a:r>
            <a:r>
              <a:rPr lang="it-IT" sz="2000" dirty="0"/>
              <a:t> base.</a:t>
            </a:r>
          </a:p>
          <a:p>
            <a:pPr algn="just"/>
            <a:r>
              <a:rPr lang="it-IT" sz="2000" dirty="0" err="1"/>
              <a:t>Every</a:t>
            </a:r>
            <a:r>
              <a:rPr lang="it-IT" sz="2000" dirty="0"/>
              <a:t> player </a:t>
            </a:r>
            <a:r>
              <a:rPr lang="it-IT" sz="2000" dirty="0" err="1"/>
              <a:t>has</a:t>
            </a:r>
            <a:r>
              <a:rPr lang="it-IT" sz="2000" dirty="0"/>
              <a:t> a </a:t>
            </a:r>
            <a:r>
              <a:rPr lang="it-IT" sz="2000" dirty="0" err="1"/>
              <a:t>Role</a:t>
            </a:r>
            <a:r>
              <a:rPr lang="it-IT" sz="2000" dirty="0"/>
              <a:t> </a:t>
            </a:r>
            <a:r>
              <a:rPr lang="it-IT" sz="2000" dirty="0" err="1"/>
              <a:t>based</a:t>
            </a:r>
            <a:r>
              <a:rPr lang="it-IT" sz="2000" dirty="0"/>
              <a:t> on </a:t>
            </a:r>
            <a:r>
              <a:rPr lang="it-IT" sz="2000" dirty="0" err="1"/>
              <a:t>which</a:t>
            </a:r>
            <a:r>
              <a:rPr lang="it-IT" sz="2000" dirty="0"/>
              <a:t> part of the </a:t>
            </a:r>
            <a:r>
              <a:rPr lang="it-IT" sz="2000" dirty="0" err="1"/>
              <a:t>map</a:t>
            </a:r>
            <a:r>
              <a:rPr lang="it-IT" sz="2000" dirty="0"/>
              <a:t> </a:t>
            </a:r>
            <a:r>
              <a:rPr lang="it-IT" sz="2000" dirty="0" err="1"/>
              <a:t>he’s</a:t>
            </a:r>
            <a:r>
              <a:rPr lang="it-IT" sz="2000" dirty="0"/>
              <a:t> </a:t>
            </a:r>
            <a:r>
              <a:rPr lang="it-IT" sz="2000" dirty="0" err="1"/>
              <a:t>going</a:t>
            </a:r>
            <a:r>
              <a:rPr lang="it-IT" sz="2000" dirty="0"/>
              <a:t> to play on. </a:t>
            </a:r>
            <a:r>
              <a:rPr lang="it-IT" sz="2000" dirty="0" err="1"/>
              <a:t>There</a:t>
            </a:r>
            <a:r>
              <a:rPr lang="it-IT" sz="2000" dirty="0"/>
              <a:t> are 5 </a:t>
            </a:r>
            <a:r>
              <a:rPr lang="it-IT" sz="2000" dirty="0" err="1"/>
              <a:t>Roles</a:t>
            </a:r>
            <a:r>
              <a:rPr lang="it-IT" sz="2000" dirty="0"/>
              <a:t>: </a:t>
            </a:r>
            <a:r>
              <a:rPr lang="it-IT" sz="2000" dirty="0" err="1"/>
              <a:t>Toplaner</a:t>
            </a:r>
            <a:r>
              <a:rPr lang="it-IT" sz="2000" dirty="0"/>
              <a:t>, </a:t>
            </a:r>
            <a:r>
              <a:rPr lang="it-IT" sz="2000" dirty="0" err="1"/>
              <a:t>Jungler</a:t>
            </a:r>
            <a:r>
              <a:rPr lang="it-IT" sz="2000" dirty="0"/>
              <a:t>, </a:t>
            </a:r>
            <a:r>
              <a:rPr lang="it-IT" sz="2000" dirty="0" err="1"/>
              <a:t>Midlaner</a:t>
            </a:r>
            <a:r>
              <a:rPr lang="it-IT" sz="2000" dirty="0"/>
              <a:t>, </a:t>
            </a:r>
            <a:r>
              <a:rPr lang="it-IT" sz="2000" dirty="0" err="1"/>
              <a:t>ADCarry</a:t>
            </a:r>
            <a:r>
              <a:rPr lang="it-IT" sz="2000" dirty="0"/>
              <a:t>, Support.</a:t>
            </a:r>
          </a:p>
          <a:p>
            <a:pPr algn="just"/>
            <a:r>
              <a:rPr lang="it-IT" sz="2000" dirty="0"/>
              <a:t>I </a:t>
            </a:r>
            <a:r>
              <a:rPr lang="it-IT" sz="2000" dirty="0" err="1"/>
              <a:t>aim</a:t>
            </a:r>
            <a:r>
              <a:rPr lang="it-IT" sz="2000" dirty="0"/>
              <a:t> to </a:t>
            </a:r>
            <a:r>
              <a:rPr lang="it-IT" sz="2000" dirty="0" err="1"/>
              <a:t>analyze</a:t>
            </a:r>
            <a:r>
              <a:rPr lang="it-IT" sz="2000" dirty="0"/>
              <a:t> </a:t>
            </a:r>
            <a:r>
              <a:rPr lang="it-IT" sz="2000" dirty="0" err="1"/>
              <a:t>which</a:t>
            </a:r>
            <a:r>
              <a:rPr lang="it-IT" sz="2000" dirty="0"/>
              <a:t> </a:t>
            </a:r>
            <a:r>
              <a:rPr lang="it-IT" sz="2000" dirty="0" err="1"/>
              <a:t>Role</a:t>
            </a:r>
            <a:r>
              <a:rPr lang="it-IT" sz="2000" dirty="0"/>
              <a:t> </a:t>
            </a:r>
            <a:r>
              <a:rPr lang="it-IT" sz="2000" dirty="0" err="1"/>
              <a:t>has</a:t>
            </a:r>
            <a:r>
              <a:rPr lang="it-IT" sz="2000" dirty="0"/>
              <a:t> the </a:t>
            </a:r>
            <a:r>
              <a:rPr lang="it-IT" sz="2000" dirty="0" err="1"/>
              <a:t>most</a:t>
            </a:r>
            <a:r>
              <a:rPr lang="it-IT" sz="2000" dirty="0"/>
              <a:t> interactions with </a:t>
            </a:r>
            <a:r>
              <a:rPr lang="it-IT" sz="2000" dirty="0" err="1"/>
              <a:t>others</a:t>
            </a:r>
            <a:r>
              <a:rPr lang="it-IT" sz="2000" dirty="0"/>
              <a:t>.</a:t>
            </a:r>
          </a:p>
        </p:txBody>
      </p:sp>
      <p:pic>
        <p:nvPicPr>
          <p:cNvPr id="14" name="Segnaposto contenuto 13" descr="Immagine che contiene testo, Carattere, tipografia, Elementi grafici&#10;&#10;Descrizione generata automaticamente">
            <a:extLst>
              <a:ext uri="{FF2B5EF4-FFF2-40B4-BE49-F238E27FC236}">
                <a16:creationId xmlns:a16="http://schemas.microsoft.com/office/drawing/2014/main" id="{55027805-3EF7-40D2-B398-53B61B66AF5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9801" y="420340"/>
            <a:ext cx="5424928" cy="3051522"/>
          </a:xfrm>
        </p:spPr>
      </p:pic>
      <p:pic>
        <p:nvPicPr>
          <p:cNvPr id="16" name="Immagine 15" descr="Immagine che contiene mappa&#10;&#10;Descrizione generata automaticamente">
            <a:extLst>
              <a:ext uri="{FF2B5EF4-FFF2-40B4-BE49-F238E27FC236}">
                <a16:creationId xmlns:a16="http://schemas.microsoft.com/office/drawing/2014/main" id="{58E88ABE-C22C-40D9-8DCC-4D22BCC81F3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2323" y="170803"/>
            <a:ext cx="4158758" cy="35505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2539998"/>
      </p:ext>
    </p:extLst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2">
                <a:shade val="88000"/>
                <a:hueMod val="106000"/>
                <a:satMod val="140000"/>
                <a:lumMod val="54000"/>
              </a:schemeClr>
              <a:schemeClr val="bg2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7" name="Picture 2">
            <a:extLst>
              <a:ext uri="{FF2B5EF4-FFF2-40B4-BE49-F238E27FC236}">
                <a16:creationId xmlns:a16="http://schemas.microsoft.com/office/drawing/2014/main" id="{FD3BFD04-77D1-4FB5-A159-35084E2C61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6="http://schemas.microsoft.com/office/drawing/2014/main" xmlns:p14="http://schemas.microsoft.com/office/powerpoint/2010/main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459" name="Group 458">
            <a:extLst>
              <a:ext uri="{FF2B5EF4-FFF2-40B4-BE49-F238E27FC236}">
                <a16:creationId xmlns:a16="http://schemas.microsoft.com/office/drawing/2014/main" id="{30B85FB2-B686-4546-B01D-17A122BACA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460" name="Group 459">
              <a:extLst>
                <a:ext uri="{FF2B5EF4-FFF2-40B4-BE49-F238E27FC236}">
                  <a16:creationId xmlns:a16="http://schemas.microsoft.com/office/drawing/2014/main" id="{45CCB97F-DB3B-4939-ABF0-CEDED72496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472" name="Rectangle 5">
                <a:extLst>
                  <a:ext uri="{FF2B5EF4-FFF2-40B4-BE49-F238E27FC236}">
                    <a16:creationId xmlns:a16="http://schemas.microsoft.com/office/drawing/2014/main" id="{9DEDF1F5-B144-4E61-A93B-DF131E62CEF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473" name="Freeform 6">
                <a:extLst>
                  <a:ext uri="{FF2B5EF4-FFF2-40B4-BE49-F238E27FC236}">
                    <a16:creationId xmlns:a16="http://schemas.microsoft.com/office/drawing/2014/main" id="{AB937A00-7D28-489C-BF2D-85C9FE13301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4" name="Freeform 7">
                <a:extLst>
                  <a:ext uri="{FF2B5EF4-FFF2-40B4-BE49-F238E27FC236}">
                    <a16:creationId xmlns:a16="http://schemas.microsoft.com/office/drawing/2014/main" id="{9B6FDA50-4B9D-47D9-8807-59651FD0D3F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5" name="Freeform 8">
                <a:extLst>
                  <a:ext uri="{FF2B5EF4-FFF2-40B4-BE49-F238E27FC236}">
                    <a16:creationId xmlns:a16="http://schemas.microsoft.com/office/drawing/2014/main" id="{BFBE3212-C518-48C0-A538-22E13450EEC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6" name="Freeform 9">
                <a:extLst>
                  <a:ext uri="{FF2B5EF4-FFF2-40B4-BE49-F238E27FC236}">
                    <a16:creationId xmlns:a16="http://schemas.microsoft.com/office/drawing/2014/main" id="{DB66EBCA-80AB-4133-A201-9F8134577F3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7" name="Freeform 10">
                <a:extLst>
                  <a:ext uri="{FF2B5EF4-FFF2-40B4-BE49-F238E27FC236}">
                    <a16:creationId xmlns:a16="http://schemas.microsoft.com/office/drawing/2014/main" id="{BE2107C9-8602-4900-B4B4-D13611B68B3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8" name="Freeform 11">
                <a:extLst>
                  <a:ext uri="{FF2B5EF4-FFF2-40B4-BE49-F238E27FC236}">
                    <a16:creationId xmlns:a16="http://schemas.microsoft.com/office/drawing/2014/main" id="{24B5E7BF-E3D5-41ED-908A-569FA6DE45D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9" name="Freeform 12">
                <a:extLst>
                  <a:ext uri="{FF2B5EF4-FFF2-40B4-BE49-F238E27FC236}">
                    <a16:creationId xmlns:a16="http://schemas.microsoft.com/office/drawing/2014/main" id="{D270C773-B463-4311-BB4C-DC4C44FDAA9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80" name="Freeform 13">
                <a:extLst>
                  <a:ext uri="{FF2B5EF4-FFF2-40B4-BE49-F238E27FC236}">
                    <a16:creationId xmlns:a16="http://schemas.microsoft.com/office/drawing/2014/main" id="{6BC18564-A239-4C4B-B7D5-4A3769CE3DA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81" name="Freeform 14">
                <a:extLst>
                  <a:ext uri="{FF2B5EF4-FFF2-40B4-BE49-F238E27FC236}">
                    <a16:creationId xmlns:a16="http://schemas.microsoft.com/office/drawing/2014/main" id="{3D9A7A0F-04F5-4EF6-B884-50AE0610F12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82" name="Freeform 15">
                <a:extLst>
                  <a:ext uri="{FF2B5EF4-FFF2-40B4-BE49-F238E27FC236}">
                    <a16:creationId xmlns:a16="http://schemas.microsoft.com/office/drawing/2014/main" id="{7E0D4876-341D-4983-815A-4AEDD46F6FD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83" name="Line 16">
                <a:extLst>
                  <a:ext uri="{FF2B5EF4-FFF2-40B4-BE49-F238E27FC236}">
                    <a16:creationId xmlns:a16="http://schemas.microsoft.com/office/drawing/2014/main" id="{5BEF60E7-344C-49D0-8748-3A3A37BD3F4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ShapeType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484" name="Freeform 17">
                <a:extLst>
                  <a:ext uri="{FF2B5EF4-FFF2-40B4-BE49-F238E27FC236}">
                    <a16:creationId xmlns:a16="http://schemas.microsoft.com/office/drawing/2014/main" id="{FB606D79-EB93-49B4-9387-4302CC9F3EA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85" name="Freeform 18">
                <a:extLst>
                  <a:ext uri="{FF2B5EF4-FFF2-40B4-BE49-F238E27FC236}">
                    <a16:creationId xmlns:a16="http://schemas.microsoft.com/office/drawing/2014/main" id="{BF49C646-5DA1-4717-B05F-99AB8E046EA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86" name="Freeform 19">
                <a:extLst>
                  <a:ext uri="{FF2B5EF4-FFF2-40B4-BE49-F238E27FC236}">
                    <a16:creationId xmlns:a16="http://schemas.microsoft.com/office/drawing/2014/main" id="{ADE02A67-7AE8-4FC3-B101-230871F1DFF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87" name="Freeform 20">
                <a:extLst>
                  <a:ext uri="{FF2B5EF4-FFF2-40B4-BE49-F238E27FC236}">
                    <a16:creationId xmlns:a16="http://schemas.microsoft.com/office/drawing/2014/main" id="{72BAD5DE-952F-4D28-96DE-61ECA1FFE2B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88" name="Rectangle 21">
                <a:extLst>
                  <a:ext uri="{FF2B5EF4-FFF2-40B4-BE49-F238E27FC236}">
                    <a16:creationId xmlns:a16="http://schemas.microsoft.com/office/drawing/2014/main" id="{51BB8E4C-85FF-4480-A425-F9C672FCD70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489" name="Freeform 22">
                <a:extLst>
                  <a:ext uri="{FF2B5EF4-FFF2-40B4-BE49-F238E27FC236}">
                    <a16:creationId xmlns:a16="http://schemas.microsoft.com/office/drawing/2014/main" id="{3E649AA8-8534-4C24-BA83-9C0F4D9C09B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90" name="Freeform 23">
                <a:extLst>
                  <a:ext uri="{FF2B5EF4-FFF2-40B4-BE49-F238E27FC236}">
                    <a16:creationId xmlns:a16="http://schemas.microsoft.com/office/drawing/2014/main" id="{3A3C2D0A-7FF6-4F97-99B9-973E5E8381A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91" name="Freeform 24">
                <a:extLst>
                  <a:ext uri="{FF2B5EF4-FFF2-40B4-BE49-F238E27FC236}">
                    <a16:creationId xmlns:a16="http://schemas.microsoft.com/office/drawing/2014/main" id="{1D33A404-96DB-40D1-A361-5C09D2FF758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92" name="Freeform 25">
                <a:extLst>
                  <a:ext uri="{FF2B5EF4-FFF2-40B4-BE49-F238E27FC236}">
                    <a16:creationId xmlns:a16="http://schemas.microsoft.com/office/drawing/2014/main" id="{B67A8029-EDD8-46B3-A24F-3484B84ADA1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93" name="Freeform 26">
                <a:extLst>
                  <a:ext uri="{FF2B5EF4-FFF2-40B4-BE49-F238E27FC236}">
                    <a16:creationId xmlns:a16="http://schemas.microsoft.com/office/drawing/2014/main" id="{2C111128-EAC0-4125-BEAF-48D4861BE2D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94" name="Freeform 27">
                <a:extLst>
                  <a:ext uri="{FF2B5EF4-FFF2-40B4-BE49-F238E27FC236}">
                    <a16:creationId xmlns:a16="http://schemas.microsoft.com/office/drawing/2014/main" id="{90EF503E-0E60-484F-8786-498B5244877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95" name="Freeform 28">
                <a:extLst>
                  <a:ext uri="{FF2B5EF4-FFF2-40B4-BE49-F238E27FC236}">
                    <a16:creationId xmlns:a16="http://schemas.microsoft.com/office/drawing/2014/main" id="{BAEB64C1-8AA2-4861-8AFD-01864EF2384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96" name="Freeform 29">
                <a:extLst>
                  <a:ext uri="{FF2B5EF4-FFF2-40B4-BE49-F238E27FC236}">
                    <a16:creationId xmlns:a16="http://schemas.microsoft.com/office/drawing/2014/main" id="{7B868A5A-03B3-474C-AB72-31AB04835E7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97" name="Freeform 30">
                <a:extLst>
                  <a:ext uri="{FF2B5EF4-FFF2-40B4-BE49-F238E27FC236}">
                    <a16:creationId xmlns:a16="http://schemas.microsoft.com/office/drawing/2014/main" id="{C09ACD48-1E0F-4BCB-9028-0B79C43DE55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98" name="Freeform 31">
                <a:extLst>
                  <a:ext uri="{FF2B5EF4-FFF2-40B4-BE49-F238E27FC236}">
                    <a16:creationId xmlns:a16="http://schemas.microsoft.com/office/drawing/2014/main" id="{B5D4FF3D-341E-4DFE-B4CD-9916246F59D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461" name="Group 460">
              <a:extLst>
                <a:ext uri="{FF2B5EF4-FFF2-40B4-BE49-F238E27FC236}">
                  <a16:creationId xmlns:a16="http://schemas.microsoft.com/office/drawing/2014/main" id="{3E7B0719-8F32-457D-83EB-E0A00622B4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462" name="Freeform 32">
                <a:extLst>
                  <a:ext uri="{FF2B5EF4-FFF2-40B4-BE49-F238E27FC236}">
                    <a16:creationId xmlns:a16="http://schemas.microsoft.com/office/drawing/2014/main" id="{E056FF60-EFE3-4685-95A1-AEDB7F5626F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3" name="Freeform 33">
                <a:extLst>
                  <a:ext uri="{FF2B5EF4-FFF2-40B4-BE49-F238E27FC236}">
                    <a16:creationId xmlns:a16="http://schemas.microsoft.com/office/drawing/2014/main" id="{5E9EA8FB-5CA0-4030-853C-54B49930493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4" name="Freeform 34">
                <a:extLst>
                  <a:ext uri="{FF2B5EF4-FFF2-40B4-BE49-F238E27FC236}">
                    <a16:creationId xmlns:a16="http://schemas.microsoft.com/office/drawing/2014/main" id="{387B387A-44A6-42A0-BACA-71AC19FCA04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5" name="Freeform 35">
                <a:extLst>
                  <a:ext uri="{FF2B5EF4-FFF2-40B4-BE49-F238E27FC236}">
                    <a16:creationId xmlns:a16="http://schemas.microsoft.com/office/drawing/2014/main" id="{4424F11E-20C0-4CFE-BE79-CDE4469FEDA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6" name="Freeform 36">
                <a:extLst>
                  <a:ext uri="{FF2B5EF4-FFF2-40B4-BE49-F238E27FC236}">
                    <a16:creationId xmlns:a16="http://schemas.microsoft.com/office/drawing/2014/main" id="{7BEDF974-EB25-4769-BDD6-F16430FF2C3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7" name="Freeform 37">
                <a:extLst>
                  <a:ext uri="{FF2B5EF4-FFF2-40B4-BE49-F238E27FC236}">
                    <a16:creationId xmlns:a16="http://schemas.microsoft.com/office/drawing/2014/main" id="{7AD36026-D842-4FF4-905B-CEA8481F556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8" name="Freeform 38">
                <a:extLst>
                  <a:ext uri="{FF2B5EF4-FFF2-40B4-BE49-F238E27FC236}">
                    <a16:creationId xmlns:a16="http://schemas.microsoft.com/office/drawing/2014/main" id="{5EBAAB58-B39B-410E-97BA-4D33B0A9C0E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9" name="Freeform 39">
                <a:extLst>
                  <a:ext uri="{FF2B5EF4-FFF2-40B4-BE49-F238E27FC236}">
                    <a16:creationId xmlns:a16="http://schemas.microsoft.com/office/drawing/2014/main" id="{57F900A9-A201-4C4D-9229-14F784AECE1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0" name="Freeform 40">
                <a:extLst>
                  <a:ext uri="{FF2B5EF4-FFF2-40B4-BE49-F238E27FC236}">
                    <a16:creationId xmlns:a16="http://schemas.microsoft.com/office/drawing/2014/main" id="{EFF4B280-5D63-4917-8757-8088E70BA2B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1" name="Rectangle 41">
                <a:extLst>
                  <a:ext uri="{FF2B5EF4-FFF2-40B4-BE49-F238E27FC236}">
                    <a16:creationId xmlns:a16="http://schemas.microsoft.com/office/drawing/2014/main" id="{9CD67EA3-2BB1-4AE4-AFF9-BE18B6161B6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olo 1">
            <a:extLst>
              <a:ext uri="{FF2B5EF4-FFF2-40B4-BE49-F238E27FC236}">
                <a16:creationId xmlns:a16="http://schemas.microsoft.com/office/drawing/2014/main" id="{9175BC02-1576-4E40-AFF7-92C28BDAA6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69957" y="618518"/>
            <a:ext cx="4747088" cy="147857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600" b="1" dirty="0"/>
              <a:t>Getting data: Riot Games API</a:t>
            </a:r>
          </a:p>
        </p:txBody>
      </p:sp>
      <p:sp>
        <p:nvSpPr>
          <p:cNvPr id="500" name="Round Diagonal Corner Rectangle 9">
            <a:extLst>
              <a:ext uri="{FF2B5EF4-FFF2-40B4-BE49-F238E27FC236}">
                <a16:creationId xmlns:a16="http://schemas.microsoft.com/office/drawing/2014/main" id="{A3D1FEF8-5149-4AC1-8D77-B256637FB7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8950" y="808057"/>
            <a:ext cx="5286376" cy="5234394"/>
          </a:xfrm>
          <a:prstGeom prst="round2DiagRect">
            <a:avLst>
              <a:gd name="adj1" fmla="val 7418"/>
              <a:gd name="adj2" fmla="val 0"/>
            </a:avLst>
          </a:prstGeom>
          <a:solidFill>
            <a:srgbClr val="FFFFFF"/>
          </a:solidFill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Immagine 8" descr="Immagine che contiene diagramma, cerchio, linea, schermata&#10;&#10;Descrizione generata automaticamente">
            <a:extLst>
              <a:ext uri="{FF2B5EF4-FFF2-40B4-BE49-F238E27FC236}">
                <a16:creationId xmlns:a16="http://schemas.microsoft.com/office/drawing/2014/main" id="{C6DDC86F-0320-4928-B073-73754B3AFE5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4734" y="974699"/>
            <a:ext cx="2916458" cy="2366182"/>
          </a:xfrm>
          <a:prstGeom prst="rect">
            <a:avLst/>
          </a:prstGeom>
        </p:spPr>
      </p:pic>
      <p:pic>
        <p:nvPicPr>
          <p:cNvPr id="6" name="Segnaposto contenuto 5" descr="Immagine che contiene testo, schermata, software, Pagina Web&#10;&#10;Descrizione generata automaticamente">
            <a:extLst>
              <a:ext uri="{FF2B5EF4-FFF2-40B4-BE49-F238E27FC236}">
                <a16:creationId xmlns:a16="http://schemas.microsoft.com/office/drawing/2014/main" id="{898A9577-10C6-41D0-B2B3-746DE5CCF08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477"/>
          <a:stretch/>
        </p:blipFill>
        <p:spPr>
          <a:xfrm>
            <a:off x="1287906" y="3340881"/>
            <a:ext cx="4208442" cy="2366182"/>
          </a:xfrm>
          <a:prstGeom prst="rect">
            <a:avLst/>
          </a:prstGeom>
        </p:spPr>
      </p:pic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BD9AD6E1-B018-46DE-88B7-15BD035BBE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569957" y="2249487"/>
            <a:ext cx="4747087" cy="3541714"/>
          </a:xfrm>
        </p:spPr>
        <p:txBody>
          <a:bodyPr vert="horz" lIns="91440" tIns="45720" rIns="91440" bIns="45720" rtlCol="0">
            <a:normAutofit/>
          </a:bodyPr>
          <a:lstStyle/>
          <a:p>
            <a:pPr algn="just"/>
            <a:r>
              <a:rPr lang="en-US" sz="1900" dirty="0"/>
              <a:t>For getting the data I created a python script that called Riot APIs.</a:t>
            </a:r>
          </a:p>
          <a:p>
            <a:pPr algn="just"/>
            <a:r>
              <a:rPr lang="en-US" sz="1900" dirty="0"/>
              <a:t>Firstly I got the account of the best 300 players in EUW server, then I got their last 20 games.</a:t>
            </a:r>
          </a:p>
          <a:p>
            <a:pPr algn="just"/>
            <a:r>
              <a:rPr lang="en-US" sz="1900" dirty="0"/>
              <a:t>In the end I filtered the data to create a csv with the nodes (names, Ids and Roles) and one with the edges (from Ids, to Ids, weight)</a:t>
            </a:r>
          </a:p>
        </p:txBody>
      </p:sp>
    </p:spTree>
    <p:extLst>
      <p:ext uri="{BB962C8B-B14F-4D97-AF65-F5344CB8AC3E}">
        <p14:creationId xmlns:p14="http://schemas.microsoft.com/office/powerpoint/2010/main" val="734178963"/>
      </p:ext>
    </p:extLst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7DA6ADB-3160-4AEE-A13C-3AE32894AB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3407" y="859765"/>
            <a:ext cx="3856037" cy="1182685"/>
          </a:xfrm>
        </p:spPr>
        <p:txBody>
          <a:bodyPr>
            <a:normAutofit/>
          </a:bodyPr>
          <a:lstStyle/>
          <a:p>
            <a:pPr algn="ctr"/>
            <a:r>
              <a:rPr lang="it-IT" sz="3600" b="1" dirty="0" err="1"/>
              <a:t>Centrality</a:t>
            </a:r>
            <a:r>
              <a:rPr lang="it-IT" sz="3600" b="1" dirty="0"/>
              <a:t> studies</a:t>
            </a:r>
          </a:p>
        </p:txBody>
      </p:sp>
      <p:graphicFrame>
        <p:nvGraphicFramePr>
          <p:cNvPr id="5" name="Tabella 5">
            <a:extLst>
              <a:ext uri="{FF2B5EF4-FFF2-40B4-BE49-F238E27FC236}">
                <a16:creationId xmlns:a16="http://schemas.microsoft.com/office/drawing/2014/main" id="{CCC7182E-0CAF-45F2-AE4F-2FD1819EA2F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03270630"/>
              </p:ext>
            </p:extLst>
          </p:nvPr>
        </p:nvGraphicFramePr>
        <p:xfrm>
          <a:off x="5265224" y="1878645"/>
          <a:ext cx="589121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78242">
                  <a:extLst>
                    <a:ext uri="{9D8B030D-6E8A-4147-A177-3AD203B41FA5}">
                      <a16:colId xmlns:a16="http://schemas.microsoft.com/office/drawing/2014/main" val="3453159907"/>
                    </a:ext>
                  </a:extLst>
                </a:gridCol>
                <a:gridCol w="1178242">
                  <a:extLst>
                    <a:ext uri="{9D8B030D-6E8A-4147-A177-3AD203B41FA5}">
                      <a16:colId xmlns:a16="http://schemas.microsoft.com/office/drawing/2014/main" val="2004608861"/>
                    </a:ext>
                  </a:extLst>
                </a:gridCol>
                <a:gridCol w="1178242">
                  <a:extLst>
                    <a:ext uri="{9D8B030D-6E8A-4147-A177-3AD203B41FA5}">
                      <a16:colId xmlns:a16="http://schemas.microsoft.com/office/drawing/2014/main" val="440149236"/>
                    </a:ext>
                  </a:extLst>
                </a:gridCol>
                <a:gridCol w="1178242">
                  <a:extLst>
                    <a:ext uri="{9D8B030D-6E8A-4147-A177-3AD203B41FA5}">
                      <a16:colId xmlns:a16="http://schemas.microsoft.com/office/drawing/2014/main" val="1013119926"/>
                    </a:ext>
                  </a:extLst>
                </a:gridCol>
                <a:gridCol w="1178242">
                  <a:extLst>
                    <a:ext uri="{9D8B030D-6E8A-4147-A177-3AD203B41FA5}">
                      <a16:colId xmlns:a16="http://schemas.microsoft.com/office/drawing/2014/main" val="84135569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TOP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JUNGLE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MIDLANE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BOTTOM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SUPPORT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50679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310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2486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2436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176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4615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4869406"/>
                  </a:ext>
                </a:extLst>
              </a:tr>
            </a:tbl>
          </a:graphicData>
        </a:graphic>
      </p:graphicFrame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D71EC385-A091-4CDA-BFA9-908476E4462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43694" y="2253798"/>
            <a:ext cx="3675462" cy="3541714"/>
          </a:xfrm>
        </p:spPr>
        <p:txBody>
          <a:bodyPr>
            <a:normAutofit/>
          </a:bodyPr>
          <a:lstStyle/>
          <a:p>
            <a:pPr algn="just"/>
            <a:r>
              <a:rPr lang="it-IT" sz="1900" dirty="0"/>
              <a:t>I </a:t>
            </a:r>
            <a:r>
              <a:rPr lang="it-IT" sz="1900" dirty="0" err="1"/>
              <a:t>decided</a:t>
            </a:r>
            <a:r>
              <a:rPr lang="it-IT" sz="1900" dirty="0"/>
              <a:t> to use </a:t>
            </a:r>
            <a:r>
              <a:rPr lang="it-IT" sz="1900" dirty="0" err="1"/>
              <a:t>only</a:t>
            </a:r>
            <a:r>
              <a:rPr lang="it-IT" sz="1900" dirty="0"/>
              <a:t> the degree </a:t>
            </a:r>
            <a:r>
              <a:rPr lang="it-IT" sz="1900" dirty="0" err="1"/>
              <a:t>centrality</a:t>
            </a:r>
            <a:r>
              <a:rPr lang="it-IT" sz="1900" dirty="0"/>
              <a:t> </a:t>
            </a:r>
            <a:r>
              <a:rPr lang="it-IT" sz="1900" dirty="0" err="1"/>
              <a:t>because</a:t>
            </a:r>
            <a:r>
              <a:rPr lang="it-IT" sz="1900" dirty="0"/>
              <a:t> I </a:t>
            </a:r>
            <a:r>
              <a:rPr lang="it-IT" sz="1900" dirty="0" err="1"/>
              <a:t>needed</a:t>
            </a:r>
            <a:r>
              <a:rPr lang="it-IT" sz="1900" dirty="0"/>
              <a:t> to </a:t>
            </a:r>
            <a:r>
              <a:rPr lang="it-IT" sz="1900" dirty="0" err="1"/>
              <a:t>analyze</a:t>
            </a:r>
            <a:r>
              <a:rPr lang="it-IT" sz="1900" dirty="0"/>
              <a:t> the </a:t>
            </a:r>
            <a:r>
              <a:rPr lang="it-IT" sz="1900" dirty="0" err="1"/>
              <a:t>number</a:t>
            </a:r>
            <a:r>
              <a:rPr lang="it-IT" sz="1900" dirty="0"/>
              <a:t> of interactions.</a:t>
            </a:r>
          </a:p>
          <a:p>
            <a:pPr algn="just"/>
            <a:r>
              <a:rPr lang="it-IT" sz="1900" dirty="0"/>
              <a:t>The </a:t>
            </a:r>
            <a:r>
              <a:rPr lang="it-IT" sz="1900" dirty="0" err="1"/>
              <a:t>results</a:t>
            </a:r>
            <a:r>
              <a:rPr lang="it-IT" sz="1900" dirty="0"/>
              <a:t> </a:t>
            </a:r>
            <a:r>
              <a:rPr lang="it-IT" sz="1900" dirty="0" err="1"/>
              <a:t>weren’t</a:t>
            </a:r>
            <a:r>
              <a:rPr lang="it-IT" sz="1900" dirty="0"/>
              <a:t> </a:t>
            </a:r>
            <a:r>
              <a:rPr lang="it-IT" sz="1900" dirty="0" err="1"/>
              <a:t>something</a:t>
            </a:r>
            <a:r>
              <a:rPr lang="it-IT" sz="1900" dirty="0"/>
              <a:t> </a:t>
            </a:r>
            <a:r>
              <a:rPr lang="it-IT" sz="1900" dirty="0" err="1"/>
              <a:t>that</a:t>
            </a:r>
            <a:r>
              <a:rPr lang="it-IT" sz="1900" dirty="0"/>
              <a:t> I </a:t>
            </a:r>
            <a:r>
              <a:rPr lang="it-IT" sz="1900" dirty="0" err="1"/>
              <a:t>expect</a:t>
            </a:r>
            <a:r>
              <a:rPr lang="it-IT" sz="1900" dirty="0"/>
              <a:t>.</a:t>
            </a:r>
          </a:p>
          <a:p>
            <a:pPr algn="just"/>
            <a:r>
              <a:rPr lang="it-IT" sz="1900" dirty="0" err="1"/>
              <a:t>Then</a:t>
            </a:r>
            <a:r>
              <a:rPr lang="it-IT" sz="1900" dirty="0"/>
              <a:t> I </a:t>
            </a:r>
            <a:r>
              <a:rPr lang="it-IT" sz="1900" dirty="0" err="1"/>
              <a:t>calculated</a:t>
            </a:r>
            <a:r>
              <a:rPr lang="it-IT" sz="1900" dirty="0"/>
              <a:t> the degree </a:t>
            </a:r>
            <a:r>
              <a:rPr lang="it-IT" sz="1900" dirty="0" err="1"/>
              <a:t>between</a:t>
            </a:r>
            <a:r>
              <a:rPr lang="it-IT" sz="1900" dirty="0"/>
              <a:t> </a:t>
            </a:r>
            <a:r>
              <a:rPr lang="it-IT" sz="1900" dirty="0" err="1"/>
              <a:t>every</a:t>
            </a:r>
            <a:r>
              <a:rPr lang="it-IT" sz="1900" dirty="0"/>
              <a:t> </a:t>
            </a:r>
            <a:r>
              <a:rPr lang="it-IT" sz="1900" dirty="0" err="1"/>
              <a:t>couple</a:t>
            </a:r>
            <a:r>
              <a:rPr lang="it-IT" sz="1900" dirty="0"/>
              <a:t> of </a:t>
            </a:r>
            <a:r>
              <a:rPr lang="it-IT" sz="1900" dirty="0" err="1"/>
              <a:t>Roles</a:t>
            </a:r>
            <a:r>
              <a:rPr lang="it-IT" sz="1900" dirty="0"/>
              <a:t>. In </a:t>
            </a:r>
            <a:r>
              <a:rPr lang="it-IT" sz="1900" dirty="0" err="1"/>
              <a:t>this</a:t>
            </a:r>
            <a:r>
              <a:rPr lang="it-IT" sz="1900" dirty="0"/>
              <a:t> case the </a:t>
            </a:r>
            <a:r>
              <a:rPr lang="it-IT" sz="1900" dirty="0" err="1"/>
              <a:t>results</a:t>
            </a:r>
            <a:r>
              <a:rPr lang="it-IT" sz="1900" dirty="0"/>
              <a:t> </a:t>
            </a:r>
            <a:r>
              <a:rPr lang="it-IT" sz="1900" dirty="0" err="1"/>
              <a:t>surprised</a:t>
            </a:r>
            <a:r>
              <a:rPr lang="it-IT" sz="1900" dirty="0"/>
              <a:t> me </a:t>
            </a:r>
            <a:r>
              <a:rPr lang="it-IT" sz="1900" dirty="0" err="1"/>
              <a:t>even</a:t>
            </a:r>
            <a:r>
              <a:rPr lang="it-IT" sz="1900" dirty="0"/>
              <a:t> more.</a:t>
            </a:r>
          </a:p>
        </p:txBody>
      </p:sp>
      <p:graphicFrame>
        <p:nvGraphicFramePr>
          <p:cNvPr id="6" name="Tabella 6">
            <a:extLst>
              <a:ext uri="{FF2B5EF4-FFF2-40B4-BE49-F238E27FC236}">
                <a16:creationId xmlns:a16="http://schemas.microsoft.com/office/drawing/2014/main" id="{C57EA124-A15C-47C7-8F8E-5DF35882C05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72074138"/>
              </p:ext>
            </p:extLst>
          </p:nvPr>
        </p:nvGraphicFramePr>
        <p:xfrm>
          <a:off x="4899804" y="3640347"/>
          <a:ext cx="6622050" cy="235810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103675">
                  <a:extLst>
                    <a:ext uri="{9D8B030D-6E8A-4147-A177-3AD203B41FA5}">
                      <a16:colId xmlns:a16="http://schemas.microsoft.com/office/drawing/2014/main" val="4148378436"/>
                    </a:ext>
                  </a:extLst>
                </a:gridCol>
                <a:gridCol w="1103675">
                  <a:extLst>
                    <a:ext uri="{9D8B030D-6E8A-4147-A177-3AD203B41FA5}">
                      <a16:colId xmlns:a16="http://schemas.microsoft.com/office/drawing/2014/main" val="4219461197"/>
                    </a:ext>
                  </a:extLst>
                </a:gridCol>
                <a:gridCol w="1103675">
                  <a:extLst>
                    <a:ext uri="{9D8B030D-6E8A-4147-A177-3AD203B41FA5}">
                      <a16:colId xmlns:a16="http://schemas.microsoft.com/office/drawing/2014/main" val="3408940634"/>
                    </a:ext>
                  </a:extLst>
                </a:gridCol>
                <a:gridCol w="1103675">
                  <a:extLst>
                    <a:ext uri="{9D8B030D-6E8A-4147-A177-3AD203B41FA5}">
                      <a16:colId xmlns:a16="http://schemas.microsoft.com/office/drawing/2014/main" val="1311115386"/>
                    </a:ext>
                  </a:extLst>
                </a:gridCol>
                <a:gridCol w="1103675">
                  <a:extLst>
                    <a:ext uri="{9D8B030D-6E8A-4147-A177-3AD203B41FA5}">
                      <a16:colId xmlns:a16="http://schemas.microsoft.com/office/drawing/2014/main" val="2267494689"/>
                    </a:ext>
                  </a:extLst>
                </a:gridCol>
                <a:gridCol w="1103675">
                  <a:extLst>
                    <a:ext uri="{9D8B030D-6E8A-4147-A177-3AD203B41FA5}">
                      <a16:colId xmlns:a16="http://schemas.microsoft.com/office/drawing/2014/main" val="1105254182"/>
                    </a:ext>
                  </a:extLst>
                </a:gridCol>
              </a:tblGrid>
              <a:tr h="393018">
                <a:tc>
                  <a:txBody>
                    <a:bodyPr/>
                    <a:lstStyle/>
                    <a:p>
                      <a:pPr algn="ctr"/>
                      <a:endParaRPr lang="it-I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TOP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JUNGLE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MIDLANE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BOTTOM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SUPPORT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17812076"/>
                  </a:ext>
                </a:extLst>
              </a:tr>
              <a:tr h="393018"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TOP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33.40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28.41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25.18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27.60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9508017"/>
                  </a:ext>
                </a:extLst>
              </a:tr>
              <a:tr h="393018"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JUNGLE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33.40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27.34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24.04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21.91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02716802"/>
                  </a:ext>
                </a:extLst>
              </a:tr>
              <a:tr h="393018"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MIDLANE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28.41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27.34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20.46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18.62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7764157"/>
                  </a:ext>
                </a:extLst>
              </a:tr>
              <a:tr h="393018"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BOTTOM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25.18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24.04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20.46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16.60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83673193"/>
                  </a:ext>
                </a:extLst>
              </a:tr>
              <a:tr h="393018"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SUPPORT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27.60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21.91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18.62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16.60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3159425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3085246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C31F9B4-2E94-45CA-AAD6-DFDD5CE559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6705" y="946029"/>
            <a:ext cx="3856037" cy="1182685"/>
          </a:xfrm>
        </p:spPr>
        <p:txBody>
          <a:bodyPr>
            <a:normAutofit/>
          </a:bodyPr>
          <a:lstStyle/>
          <a:p>
            <a:pPr algn="ctr"/>
            <a:r>
              <a:rPr lang="it-IT" sz="3600" b="1" dirty="0"/>
              <a:t>Clustering </a:t>
            </a:r>
            <a:r>
              <a:rPr lang="it-IT" sz="3600" b="1" dirty="0" err="1"/>
              <a:t>analysis</a:t>
            </a:r>
            <a:endParaRPr lang="it-IT" sz="3600" b="1" dirty="0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8B2D3B04-58D3-451A-A364-033AF1DEC89D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>
            <a:normAutofit/>
          </a:bodyPr>
          <a:lstStyle/>
          <a:p>
            <a:pPr algn="just"/>
            <a:r>
              <a:rPr lang="it-IT" sz="1900" dirty="0"/>
              <a:t>I </a:t>
            </a:r>
            <a:r>
              <a:rPr lang="it-IT" sz="1900" dirty="0" err="1"/>
              <a:t>tried</a:t>
            </a:r>
            <a:r>
              <a:rPr lang="it-IT" sz="1900" dirty="0"/>
              <a:t> to divide the </a:t>
            </a:r>
            <a:r>
              <a:rPr lang="it-IT" sz="1900" dirty="0" err="1"/>
              <a:t>graph</a:t>
            </a:r>
            <a:r>
              <a:rPr lang="it-IT" sz="1900" dirty="0"/>
              <a:t> in clusters to </a:t>
            </a:r>
            <a:r>
              <a:rPr lang="it-IT" sz="1900" dirty="0" err="1"/>
              <a:t>see</a:t>
            </a:r>
            <a:r>
              <a:rPr lang="it-IT" sz="1900" dirty="0"/>
              <a:t> </a:t>
            </a:r>
            <a:r>
              <a:rPr lang="it-IT" sz="1900" dirty="0" err="1"/>
              <a:t>if</a:t>
            </a:r>
            <a:r>
              <a:rPr lang="it-IT" sz="1900" dirty="0"/>
              <a:t> </a:t>
            </a:r>
            <a:r>
              <a:rPr lang="it-IT" sz="1900" dirty="0" err="1"/>
              <a:t>Roles</a:t>
            </a:r>
            <a:r>
              <a:rPr lang="it-IT" sz="1900" dirty="0"/>
              <a:t> and Clusters </a:t>
            </a:r>
            <a:r>
              <a:rPr lang="it-IT" sz="1900" dirty="0" err="1"/>
              <a:t>would</a:t>
            </a:r>
            <a:r>
              <a:rPr lang="it-IT" sz="1900" dirty="0"/>
              <a:t> </a:t>
            </a:r>
            <a:r>
              <a:rPr lang="it-IT" sz="1900" dirty="0" err="1"/>
              <a:t>have</a:t>
            </a:r>
            <a:r>
              <a:rPr lang="it-IT" sz="1900" dirty="0"/>
              <a:t> </a:t>
            </a:r>
            <a:r>
              <a:rPr lang="it-IT" sz="1900" dirty="0" err="1"/>
              <a:t>divided</a:t>
            </a:r>
            <a:r>
              <a:rPr lang="it-IT" sz="1900" dirty="0"/>
              <a:t> the </a:t>
            </a:r>
            <a:r>
              <a:rPr lang="it-IT" sz="1900" dirty="0" err="1"/>
              <a:t>nodes</a:t>
            </a:r>
            <a:r>
              <a:rPr lang="it-IT" sz="1900" dirty="0"/>
              <a:t> in the </a:t>
            </a:r>
            <a:r>
              <a:rPr lang="it-IT" sz="1900" dirty="0" err="1"/>
              <a:t>same</a:t>
            </a:r>
            <a:r>
              <a:rPr lang="it-IT" sz="1900" dirty="0"/>
              <a:t> way.</a:t>
            </a:r>
          </a:p>
          <a:p>
            <a:pPr algn="just"/>
            <a:r>
              <a:rPr lang="it-IT" sz="1900" dirty="0" err="1"/>
              <a:t>Even</a:t>
            </a:r>
            <a:r>
              <a:rPr lang="it-IT" sz="1900" dirty="0"/>
              <a:t> </a:t>
            </a:r>
            <a:r>
              <a:rPr lang="it-IT" sz="1900" dirty="0" err="1"/>
              <a:t>if</a:t>
            </a:r>
            <a:r>
              <a:rPr lang="it-IT" sz="1900" dirty="0"/>
              <a:t> I </a:t>
            </a:r>
            <a:r>
              <a:rPr lang="it-IT" sz="1900" dirty="0" err="1"/>
              <a:t>tried</a:t>
            </a:r>
            <a:r>
              <a:rPr lang="it-IT" sz="1900" dirty="0"/>
              <a:t> </a:t>
            </a:r>
            <a:r>
              <a:rPr lang="it-IT" sz="1900" dirty="0" err="1"/>
              <a:t>different</a:t>
            </a:r>
            <a:r>
              <a:rPr lang="it-IT" sz="1900" dirty="0"/>
              <a:t> </a:t>
            </a:r>
            <a:r>
              <a:rPr lang="it-IT" sz="1900" dirty="0" err="1"/>
              <a:t>types</a:t>
            </a:r>
            <a:r>
              <a:rPr lang="it-IT" sz="1900" dirty="0"/>
              <a:t> of </a:t>
            </a:r>
            <a:r>
              <a:rPr lang="it-IT" sz="1900" dirty="0" err="1"/>
              <a:t>similarity</a:t>
            </a:r>
            <a:r>
              <a:rPr lang="it-IT" sz="1900" dirty="0"/>
              <a:t>, the </a:t>
            </a:r>
            <a:r>
              <a:rPr lang="it-IT" sz="1900" dirty="0" err="1"/>
              <a:t>number</a:t>
            </a:r>
            <a:r>
              <a:rPr lang="it-IT" sz="1900" dirty="0"/>
              <a:t> of </a:t>
            </a:r>
            <a:r>
              <a:rPr lang="it-IT" sz="1900" dirty="0" err="1"/>
              <a:t>nodes</a:t>
            </a:r>
            <a:r>
              <a:rPr lang="it-IT" sz="1900" dirty="0"/>
              <a:t> in clusters </a:t>
            </a:r>
            <a:r>
              <a:rPr lang="it-IT" sz="1900" dirty="0" err="1"/>
              <a:t>weren’t</a:t>
            </a:r>
            <a:r>
              <a:rPr lang="it-IT" sz="1900" dirty="0"/>
              <a:t> </a:t>
            </a:r>
            <a:r>
              <a:rPr lang="it-IT" sz="1900" dirty="0" err="1"/>
              <a:t>omogenous</a:t>
            </a:r>
            <a:r>
              <a:rPr lang="it-IT" sz="1900" dirty="0"/>
              <a:t>.</a:t>
            </a:r>
          </a:p>
        </p:txBody>
      </p:sp>
      <p:sp>
        <p:nvSpPr>
          <p:cNvPr id="5" name="Ovale 4">
            <a:extLst>
              <a:ext uri="{FF2B5EF4-FFF2-40B4-BE49-F238E27FC236}">
                <a16:creationId xmlns:a16="http://schemas.microsoft.com/office/drawing/2014/main" id="{EE53A433-0B91-464A-A42B-0994ECAC9E16}"/>
              </a:ext>
            </a:extLst>
          </p:cNvPr>
          <p:cNvSpPr/>
          <p:nvPr/>
        </p:nvSpPr>
        <p:spPr>
          <a:xfrm>
            <a:off x="7716328" y="946029"/>
            <a:ext cx="1802921" cy="171665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2793 </a:t>
            </a:r>
            <a:r>
              <a:rPr lang="it-IT" dirty="0" err="1"/>
              <a:t>nodes</a:t>
            </a:r>
            <a:endParaRPr lang="it-IT" dirty="0"/>
          </a:p>
        </p:txBody>
      </p:sp>
      <p:sp>
        <p:nvSpPr>
          <p:cNvPr id="6" name="Ovale 5">
            <a:extLst>
              <a:ext uri="{FF2B5EF4-FFF2-40B4-BE49-F238E27FC236}">
                <a16:creationId xmlns:a16="http://schemas.microsoft.com/office/drawing/2014/main" id="{42444971-9731-47C7-8B3D-7B19B8E0767B}"/>
              </a:ext>
            </a:extLst>
          </p:cNvPr>
          <p:cNvSpPr/>
          <p:nvPr/>
        </p:nvSpPr>
        <p:spPr>
          <a:xfrm>
            <a:off x="6215043" y="2662685"/>
            <a:ext cx="862641" cy="84970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400" dirty="0"/>
              <a:t>38 </a:t>
            </a:r>
            <a:r>
              <a:rPr lang="it-IT" sz="1400" dirty="0" err="1"/>
              <a:t>nodes</a:t>
            </a:r>
            <a:endParaRPr lang="it-IT" sz="1400" dirty="0"/>
          </a:p>
        </p:txBody>
      </p:sp>
      <p:sp>
        <p:nvSpPr>
          <p:cNvPr id="7" name="Ovale 6">
            <a:extLst>
              <a:ext uri="{FF2B5EF4-FFF2-40B4-BE49-F238E27FC236}">
                <a16:creationId xmlns:a16="http://schemas.microsoft.com/office/drawing/2014/main" id="{A3468AC3-E85A-4531-A6B1-BB4BD83D10A7}"/>
              </a:ext>
            </a:extLst>
          </p:cNvPr>
          <p:cNvSpPr/>
          <p:nvPr/>
        </p:nvSpPr>
        <p:spPr>
          <a:xfrm>
            <a:off x="9920377" y="3004148"/>
            <a:ext cx="810883" cy="81289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200" dirty="0"/>
              <a:t>32 </a:t>
            </a:r>
            <a:r>
              <a:rPr lang="it-IT" sz="1200" dirty="0" err="1"/>
              <a:t>nodes</a:t>
            </a:r>
            <a:endParaRPr lang="it-IT" sz="1200" dirty="0"/>
          </a:p>
        </p:txBody>
      </p:sp>
      <p:sp>
        <p:nvSpPr>
          <p:cNvPr id="8" name="Ovale 7">
            <a:extLst>
              <a:ext uri="{FF2B5EF4-FFF2-40B4-BE49-F238E27FC236}">
                <a16:creationId xmlns:a16="http://schemas.microsoft.com/office/drawing/2014/main" id="{9AC2019B-4E83-463C-92E2-EE5FA4AB32C7}"/>
              </a:ext>
            </a:extLst>
          </p:cNvPr>
          <p:cNvSpPr/>
          <p:nvPr/>
        </p:nvSpPr>
        <p:spPr>
          <a:xfrm>
            <a:off x="7435970" y="3333962"/>
            <a:ext cx="974785" cy="96615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600" dirty="0"/>
              <a:t>46 </a:t>
            </a:r>
            <a:r>
              <a:rPr lang="it-IT" sz="1600" dirty="0" err="1"/>
              <a:t>nodes</a:t>
            </a:r>
            <a:endParaRPr lang="it-IT" sz="1600" dirty="0"/>
          </a:p>
        </p:txBody>
      </p:sp>
      <p:sp>
        <p:nvSpPr>
          <p:cNvPr id="9" name="Ovale 8">
            <a:extLst>
              <a:ext uri="{FF2B5EF4-FFF2-40B4-BE49-F238E27FC236}">
                <a16:creationId xmlns:a16="http://schemas.microsoft.com/office/drawing/2014/main" id="{FBC91242-E86B-451B-A5A3-A751035C2E0C}"/>
              </a:ext>
            </a:extLst>
          </p:cNvPr>
          <p:cNvSpPr/>
          <p:nvPr/>
        </p:nvSpPr>
        <p:spPr>
          <a:xfrm>
            <a:off x="8505645" y="4527569"/>
            <a:ext cx="741871" cy="70305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100" dirty="0"/>
              <a:t>26 </a:t>
            </a:r>
            <a:r>
              <a:rPr lang="it-IT" sz="1100" dirty="0" err="1"/>
              <a:t>nodes</a:t>
            </a:r>
            <a:endParaRPr lang="it-IT" sz="1100" dirty="0"/>
          </a:p>
        </p:txBody>
      </p:sp>
      <p:sp>
        <p:nvSpPr>
          <p:cNvPr id="10" name="Segnaposto testo 3">
            <a:extLst>
              <a:ext uri="{FF2B5EF4-FFF2-40B4-BE49-F238E27FC236}">
                <a16:creationId xmlns:a16="http://schemas.microsoft.com/office/drawing/2014/main" id="{7591CCAB-17FB-478E-BFA2-581A637B1F33}"/>
              </a:ext>
            </a:extLst>
          </p:cNvPr>
          <p:cNvSpPr txBox="1">
            <a:spLocks/>
          </p:cNvSpPr>
          <p:nvPr/>
        </p:nvSpPr>
        <p:spPr>
          <a:xfrm>
            <a:off x="3304636" y="6028561"/>
            <a:ext cx="5582727" cy="4339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it-IT" sz="1900" i="1" dirty="0">
                <a:solidFill>
                  <a:schemeClr val="tx1">
                    <a:lumMod val="85000"/>
                  </a:schemeClr>
                </a:solidFill>
                <a:latin typeface="Abadi Extra Light" panose="020B0604020202020204" pitchFamily="34" charset="0"/>
              </a:rPr>
              <a:t>«Non tutti i dati vogliono essere clusterizzati», </a:t>
            </a:r>
            <a:r>
              <a:rPr lang="it-IT" sz="1900" i="1" dirty="0" err="1">
                <a:solidFill>
                  <a:schemeClr val="tx1">
                    <a:lumMod val="85000"/>
                  </a:schemeClr>
                </a:solidFill>
                <a:latin typeface="Abadi Extra Light" panose="020B0604020202020204" pitchFamily="34" charset="0"/>
              </a:rPr>
              <a:t>ChatGPT</a:t>
            </a:r>
            <a:endParaRPr lang="it-IT" sz="1900" i="1" dirty="0">
              <a:solidFill>
                <a:schemeClr val="tx1">
                  <a:lumMod val="85000"/>
                </a:schemeClr>
              </a:solidFill>
              <a:latin typeface="Abadi Extra Light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39545483"/>
      </p:ext>
    </p:extLst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2">
                <a:shade val="88000"/>
                <a:hueMod val="106000"/>
                <a:satMod val="140000"/>
                <a:lumMod val="54000"/>
              </a:schemeClr>
              <a:schemeClr val="bg2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8" name="Picture 2">
            <a:extLst>
              <a:ext uri="{FF2B5EF4-FFF2-40B4-BE49-F238E27FC236}">
                <a16:creationId xmlns:a16="http://schemas.microsoft.com/office/drawing/2014/main" id="{678E285C-BE9E-45B7-A3EE-B9792DAE99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6="http://schemas.microsoft.com/office/drawing/2014/main" xmlns:p14="http://schemas.microsoft.com/office/powerpoint/2010/main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40" name="Group 139">
            <a:extLst>
              <a:ext uri="{FF2B5EF4-FFF2-40B4-BE49-F238E27FC236}">
                <a16:creationId xmlns:a16="http://schemas.microsoft.com/office/drawing/2014/main" id="{AB86F577-8905-4B21-8AF3-C1BB343377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41" name="Rectangle 5">
              <a:extLst>
                <a:ext uri="{FF2B5EF4-FFF2-40B4-BE49-F238E27FC236}">
                  <a16:creationId xmlns:a16="http://schemas.microsoft.com/office/drawing/2014/main" id="{D2F1CFF3-A579-4D24-B5F9-1C71BA6FE5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42" name="Freeform 6">
              <a:extLst>
                <a:ext uri="{FF2B5EF4-FFF2-40B4-BE49-F238E27FC236}">
                  <a16:creationId xmlns:a16="http://schemas.microsoft.com/office/drawing/2014/main" id="{57601B50-7EB1-43FA-8360-4297BCD763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3" name="Freeform 7">
              <a:extLst>
                <a:ext uri="{FF2B5EF4-FFF2-40B4-BE49-F238E27FC236}">
                  <a16:creationId xmlns:a16="http://schemas.microsoft.com/office/drawing/2014/main" id="{60BD8B7A-CD01-4638-A2C9-299AC68B9B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4" name="Rectangle 8">
              <a:extLst>
                <a:ext uri="{FF2B5EF4-FFF2-40B4-BE49-F238E27FC236}">
                  <a16:creationId xmlns:a16="http://schemas.microsoft.com/office/drawing/2014/main" id="{095B58F9-6C29-48BE-9DA6-3855080521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45" name="Freeform 9">
              <a:extLst>
                <a:ext uri="{FF2B5EF4-FFF2-40B4-BE49-F238E27FC236}">
                  <a16:creationId xmlns:a16="http://schemas.microsoft.com/office/drawing/2014/main" id="{0C84674F-2E8A-4B70-B801-00722CDD581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6" name="Freeform 10">
              <a:extLst>
                <a:ext uri="{FF2B5EF4-FFF2-40B4-BE49-F238E27FC236}">
                  <a16:creationId xmlns:a16="http://schemas.microsoft.com/office/drawing/2014/main" id="{34F320BB-D6A9-45FE-8556-498B763B1E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7" name="Freeform 11">
              <a:extLst>
                <a:ext uri="{FF2B5EF4-FFF2-40B4-BE49-F238E27FC236}">
                  <a16:creationId xmlns:a16="http://schemas.microsoft.com/office/drawing/2014/main" id="{5493D54A-532A-46ED-AF63-A0A54818EF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8" name="Freeform 12">
              <a:extLst>
                <a:ext uri="{FF2B5EF4-FFF2-40B4-BE49-F238E27FC236}">
                  <a16:creationId xmlns:a16="http://schemas.microsoft.com/office/drawing/2014/main" id="{EAF2EDFA-9C0B-44E2-B4BB-312B58BCA8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9" name="Freeform 13">
              <a:extLst>
                <a:ext uri="{FF2B5EF4-FFF2-40B4-BE49-F238E27FC236}">
                  <a16:creationId xmlns:a16="http://schemas.microsoft.com/office/drawing/2014/main" id="{A3641113-CE35-42A4-B605-41BC06BF4F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0" name="Freeform 14">
              <a:extLst>
                <a:ext uri="{FF2B5EF4-FFF2-40B4-BE49-F238E27FC236}">
                  <a16:creationId xmlns:a16="http://schemas.microsoft.com/office/drawing/2014/main" id="{DA2E5B2C-BAC4-4440-9B7E-F38783197A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1" name="Freeform 15">
              <a:extLst>
                <a:ext uri="{FF2B5EF4-FFF2-40B4-BE49-F238E27FC236}">
                  <a16:creationId xmlns:a16="http://schemas.microsoft.com/office/drawing/2014/main" id="{D8A506DF-2E53-42C9-94BE-B98E32E057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2" name="Freeform 16">
              <a:extLst>
                <a:ext uri="{FF2B5EF4-FFF2-40B4-BE49-F238E27FC236}">
                  <a16:creationId xmlns:a16="http://schemas.microsoft.com/office/drawing/2014/main" id="{12934FF8-5F70-40BF-BBB6-5EB941FB9B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3" name="Freeform 17">
              <a:extLst>
                <a:ext uri="{FF2B5EF4-FFF2-40B4-BE49-F238E27FC236}">
                  <a16:creationId xmlns:a16="http://schemas.microsoft.com/office/drawing/2014/main" id="{8EB3FB08-D01D-4E24-BE40-C16269DF62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4" name="Freeform 18">
              <a:extLst>
                <a:ext uri="{FF2B5EF4-FFF2-40B4-BE49-F238E27FC236}">
                  <a16:creationId xmlns:a16="http://schemas.microsoft.com/office/drawing/2014/main" id="{D24E50D7-2753-4169-AD51-C106DA1B7A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5" name="Freeform 19">
              <a:extLst>
                <a:ext uri="{FF2B5EF4-FFF2-40B4-BE49-F238E27FC236}">
                  <a16:creationId xmlns:a16="http://schemas.microsoft.com/office/drawing/2014/main" id="{DF94B7E0-D9B6-4096-94D0-18D3AC0EF6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6" name="Freeform 20">
              <a:extLst>
                <a:ext uri="{FF2B5EF4-FFF2-40B4-BE49-F238E27FC236}">
                  <a16:creationId xmlns:a16="http://schemas.microsoft.com/office/drawing/2014/main" id="{EBC05ADE-BBA2-4387-B005-3196E2E198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7" name="Freeform 21">
              <a:extLst>
                <a:ext uri="{FF2B5EF4-FFF2-40B4-BE49-F238E27FC236}">
                  <a16:creationId xmlns:a16="http://schemas.microsoft.com/office/drawing/2014/main" id="{BBED1CEE-14D2-442F-AB08-401ABE3EFB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8" name="Freeform 22">
              <a:extLst>
                <a:ext uri="{FF2B5EF4-FFF2-40B4-BE49-F238E27FC236}">
                  <a16:creationId xmlns:a16="http://schemas.microsoft.com/office/drawing/2014/main" id="{4F6574C0-78E8-49EA-84BC-EE9D55707F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9" name="Freeform 23">
              <a:extLst>
                <a:ext uri="{FF2B5EF4-FFF2-40B4-BE49-F238E27FC236}">
                  <a16:creationId xmlns:a16="http://schemas.microsoft.com/office/drawing/2014/main" id="{65BCDB0B-615E-4CA1-AFD5-6B121CB7CE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60" name="Freeform 24">
              <a:extLst>
                <a:ext uri="{FF2B5EF4-FFF2-40B4-BE49-F238E27FC236}">
                  <a16:creationId xmlns:a16="http://schemas.microsoft.com/office/drawing/2014/main" id="{40627863-B7FC-44D1-9E53-E728FFF675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61" name="Freeform 25">
              <a:extLst>
                <a:ext uri="{FF2B5EF4-FFF2-40B4-BE49-F238E27FC236}">
                  <a16:creationId xmlns:a16="http://schemas.microsoft.com/office/drawing/2014/main" id="{52FD6F8C-3AF1-487E-91F4-6E55146F1F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62" name="Freeform 26">
              <a:extLst>
                <a:ext uri="{FF2B5EF4-FFF2-40B4-BE49-F238E27FC236}">
                  <a16:creationId xmlns:a16="http://schemas.microsoft.com/office/drawing/2014/main" id="{50323CF3-93CB-4E03-95C0-B180BB87A8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63" name="Freeform 27">
              <a:extLst>
                <a:ext uri="{FF2B5EF4-FFF2-40B4-BE49-F238E27FC236}">
                  <a16:creationId xmlns:a16="http://schemas.microsoft.com/office/drawing/2014/main" id="{EB47D82F-CF1B-47E6-9FA2-F3A9C5F945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64" name="Freeform 28">
              <a:extLst>
                <a:ext uri="{FF2B5EF4-FFF2-40B4-BE49-F238E27FC236}">
                  <a16:creationId xmlns:a16="http://schemas.microsoft.com/office/drawing/2014/main" id="{0606708F-F2D4-4678-8ED2-39041BC64D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65" name="Freeform 29">
              <a:extLst>
                <a:ext uri="{FF2B5EF4-FFF2-40B4-BE49-F238E27FC236}">
                  <a16:creationId xmlns:a16="http://schemas.microsoft.com/office/drawing/2014/main" id="{D7EB95B4-15E4-433D-B36F-21FF341AD9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66" name="Freeform 30">
              <a:extLst>
                <a:ext uri="{FF2B5EF4-FFF2-40B4-BE49-F238E27FC236}">
                  <a16:creationId xmlns:a16="http://schemas.microsoft.com/office/drawing/2014/main" id="{500A541B-4C75-497C-A489-097ED29964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67" name="Freeform 31">
              <a:extLst>
                <a:ext uri="{FF2B5EF4-FFF2-40B4-BE49-F238E27FC236}">
                  <a16:creationId xmlns:a16="http://schemas.microsoft.com/office/drawing/2014/main" id="{5789326F-12A4-48B8-B0ED-A6A2AE0C27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68" name="Freeform 32">
              <a:extLst>
                <a:ext uri="{FF2B5EF4-FFF2-40B4-BE49-F238E27FC236}">
                  <a16:creationId xmlns:a16="http://schemas.microsoft.com/office/drawing/2014/main" id="{25FA672E-2B65-477F-AA75-6261CE652F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69" name="Rectangle 33">
              <a:extLst>
                <a:ext uri="{FF2B5EF4-FFF2-40B4-BE49-F238E27FC236}">
                  <a16:creationId xmlns:a16="http://schemas.microsoft.com/office/drawing/2014/main" id="{BB09AF8D-E68B-499C-B9F5-2F365813D3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70" name="Freeform 34">
              <a:extLst>
                <a:ext uri="{FF2B5EF4-FFF2-40B4-BE49-F238E27FC236}">
                  <a16:creationId xmlns:a16="http://schemas.microsoft.com/office/drawing/2014/main" id="{7991AEAD-B5F3-47BA-9F1B-86C16A84AD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1" name="Freeform 35">
              <a:extLst>
                <a:ext uri="{FF2B5EF4-FFF2-40B4-BE49-F238E27FC236}">
                  <a16:creationId xmlns:a16="http://schemas.microsoft.com/office/drawing/2014/main" id="{19A85F58-4C3A-4388-B55C-2329EEAECF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2" name="Freeform 36">
              <a:extLst>
                <a:ext uri="{FF2B5EF4-FFF2-40B4-BE49-F238E27FC236}">
                  <a16:creationId xmlns:a16="http://schemas.microsoft.com/office/drawing/2014/main" id="{05652F38-94D9-41B7-A699-7E8F0C78D8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3" name="Freeform 37">
              <a:extLst>
                <a:ext uri="{FF2B5EF4-FFF2-40B4-BE49-F238E27FC236}">
                  <a16:creationId xmlns:a16="http://schemas.microsoft.com/office/drawing/2014/main" id="{3C043852-C250-4518-BB89-C91A349171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4" name="Freeform 38">
              <a:extLst>
                <a:ext uri="{FF2B5EF4-FFF2-40B4-BE49-F238E27FC236}">
                  <a16:creationId xmlns:a16="http://schemas.microsoft.com/office/drawing/2014/main" id="{0CAB9A07-ECF2-416C-8528-F75DACB138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5" name="Freeform 39">
              <a:extLst>
                <a:ext uri="{FF2B5EF4-FFF2-40B4-BE49-F238E27FC236}">
                  <a16:creationId xmlns:a16="http://schemas.microsoft.com/office/drawing/2014/main" id="{904A314C-A829-4AA6-92E2-529BCCF95C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6" name="Freeform 40">
              <a:extLst>
                <a:ext uri="{FF2B5EF4-FFF2-40B4-BE49-F238E27FC236}">
                  <a16:creationId xmlns:a16="http://schemas.microsoft.com/office/drawing/2014/main" id="{244EE6BA-4569-43ED-9E2E-1FB66201B7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7" name="Freeform 41">
              <a:extLst>
                <a:ext uri="{FF2B5EF4-FFF2-40B4-BE49-F238E27FC236}">
                  <a16:creationId xmlns:a16="http://schemas.microsoft.com/office/drawing/2014/main" id="{BEB8252E-FB2A-4BB5-BEC6-CA10FF6F7C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8" name="Freeform 42">
              <a:extLst>
                <a:ext uri="{FF2B5EF4-FFF2-40B4-BE49-F238E27FC236}">
                  <a16:creationId xmlns:a16="http://schemas.microsoft.com/office/drawing/2014/main" id="{91414711-C3A4-4E96-854A-DDDEB2F2E3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9" name="Freeform 43">
              <a:extLst>
                <a:ext uri="{FF2B5EF4-FFF2-40B4-BE49-F238E27FC236}">
                  <a16:creationId xmlns:a16="http://schemas.microsoft.com/office/drawing/2014/main" id="{86815BA8-3055-4B42-98C3-4202FD92E0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0" name="Freeform 44">
              <a:extLst>
                <a:ext uri="{FF2B5EF4-FFF2-40B4-BE49-F238E27FC236}">
                  <a16:creationId xmlns:a16="http://schemas.microsoft.com/office/drawing/2014/main" id="{44457813-E991-44AE-9A83-B7488D1F36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1" name="Rectangle 45">
              <a:extLst>
                <a:ext uri="{FF2B5EF4-FFF2-40B4-BE49-F238E27FC236}">
                  <a16:creationId xmlns:a16="http://schemas.microsoft.com/office/drawing/2014/main" id="{8CE1CF47-A73F-4560-8835-AE1DC51E5C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82" name="Freeform 46">
              <a:extLst>
                <a:ext uri="{FF2B5EF4-FFF2-40B4-BE49-F238E27FC236}">
                  <a16:creationId xmlns:a16="http://schemas.microsoft.com/office/drawing/2014/main" id="{C2A935E4-AACC-4CB9-995E-D2861788731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3" name="Freeform 47">
              <a:extLst>
                <a:ext uri="{FF2B5EF4-FFF2-40B4-BE49-F238E27FC236}">
                  <a16:creationId xmlns:a16="http://schemas.microsoft.com/office/drawing/2014/main" id="{93B5B778-8ACB-4004-932D-BD95997BAE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4" name="Freeform 48">
              <a:extLst>
                <a:ext uri="{FF2B5EF4-FFF2-40B4-BE49-F238E27FC236}">
                  <a16:creationId xmlns:a16="http://schemas.microsoft.com/office/drawing/2014/main" id="{1434AF34-0919-40AD-84B1-446D4FF2D6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5" name="Freeform 49">
              <a:extLst>
                <a:ext uri="{FF2B5EF4-FFF2-40B4-BE49-F238E27FC236}">
                  <a16:creationId xmlns:a16="http://schemas.microsoft.com/office/drawing/2014/main" id="{29546CF3-6DDD-4073-AB7F-C6E722257A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6" name="Freeform 50">
              <a:extLst>
                <a:ext uri="{FF2B5EF4-FFF2-40B4-BE49-F238E27FC236}">
                  <a16:creationId xmlns:a16="http://schemas.microsoft.com/office/drawing/2014/main" id="{289D46AB-128A-477F-B6C9-F40F115D6C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7" name="Freeform 51">
              <a:extLst>
                <a:ext uri="{FF2B5EF4-FFF2-40B4-BE49-F238E27FC236}">
                  <a16:creationId xmlns:a16="http://schemas.microsoft.com/office/drawing/2014/main" id="{A7DA7E67-3368-44AD-AACD-EB64AE34870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8" name="Freeform 52">
              <a:extLst>
                <a:ext uri="{FF2B5EF4-FFF2-40B4-BE49-F238E27FC236}">
                  <a16:creationId xmlns:a16="http://schemas.microsoft.com/office/drawing/2014/main" id="{78BB1152-AB85-4AD8-BBA1-07CEA1F508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9" name="Freeform 53">
              <a:extLst>
                <a:ext uri="{FF2B5EF4-FFF2-40B4-BE49-F238E27FC236}">
                  <a16:creationId xmlns:a16="http://schemas.microsoft.com/office/drawing/2014/main" id="{A982E7F2-DD68-4093-B9C5-3E42B475AB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0" name="Freeform 54">
              <a:extLst>
                <a:ext uri="{FF2B5EF4-FFF2-40B4-BE49-F238E27FC236}">
                  <a16:creationId xmlns:a16="http://schemas.microsoft.com/office/drawing/2014/main" id="{A682E224-4CD6-420B-897A-B23D50B82E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1" name="Freeform 55">
              <a:extLst>
                <a:ext uri="{FF2B5EF4-FFF2-40B4-BE49-F238E27FC236}">
                  <a16:creationId xmlns:a16="http://schemas.microsoft.com/office/drawing/2014/main" id="{31B90F10-06CD-480E-8D35-6E0FFFB894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2" name="Freeform 56">
              <a:extLst>
                <a:ext uri="{FF2B5EF4-FFF2-40B4-BE49-F238E27FC236}">
                  <a16:creationId xmlns:a16="http://schemas.microsoft.com/office/drawing/2014/main" id="{7BC977DB-69B0-4D8D-B77C-E1127EC417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3" name="Freeform 57">
              <a:extLst>
                <a:ext uri="{FF2B5EF4-FFF2-40B4-BE49-F238E27FC236}">
                  <a16:creationId xmlns:a16="http://schemas.microsoft.com/office/drawing/2014/main" id="{24127454-3FCB-41D6-ACFB-81D7E05A79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4" name="Freeform 58">
              <a:extLst>
                <a:ext uri="{FF2B5EF4-FFF2-40B4-BE49-F238E27FC236}">
                  <a16:creationId xmlns:a16="http://schemas.microsoft.com/office/drawing/2014/main" id="{7AA80D42-B8A8-475B-ADBF-99719CE9FE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olo 1">
            <a:extLst>
              <a:ext uri="{FF2B5EF4-FFF2-40B4-BE49-F238E27FC236}">
                <a16:creationId xmlns:a16="http://schemas.microsoft.com/office/drawing/2014/main" id="{FE145253-19C5-4943-BF33-F0BF23655B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19500" y="2302804"/>
            <a:ext cx="4953000" cy="1925638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pPr algn="ctr"/>
            <a:r>
              <a:rPr lang="en-US" sz="4800" b="1" dirty="0"/>
              <a:t>Thanks</a:t>
            </a:r>
            <a:br>
              <a:rPr lang="en-US" sz="4800" b="1" dirty="0"/>
            </a:br>
            <a:r>
              <a:rPr lang="en-US" sz="4800" b="1" dirty="0"/>
              <a:t>for your</a:t>
            </a:r>
            <a:br>
              <a:rPr lang="en-US" sz="4800" b="1" dirty="0"/>
            </a:br>
            <a:r>
              <a:rPr lang="en-US" sz="4800" b="1" dirty="0"/>
              <a:t>attention</a:t>
            </a:r>
          </a:p>
        </p:txBody>
      </p:sp>
    </p:spTree>
    <p:extLst>
      <p:ext uri="{BB962C8B-B14F-4D97-AF65-F5344CB8AC3E}">
        <p14:creationId xmlns:p14="http://schemas.microsoft.com/office/powerpoint/2010/main" val="2172464401"/>
      </p:ext>
    </p:extLst>
  </p:cSld>
  <p:clrMapOvr>
    <a:masterClrMapping/>
  </p:clrMapOvr>
  <p:transition spd="slow">
    <p:push dir="u"/>
  </p:transition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o">
  <a:themeElements>
    <a:clrScheme name="Circuito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o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o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166</TotalTime>
  <Words>327</Words>
  <Application>Microsoft Office PowerPoint</Application>
  <PresentationFormat>Widescreen</PresentationFormat>
  <Paragraphs>69</Paragraphs>
  <Slides>6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3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6</vt:i4>
      </vt:variant>
    </vt:vector>
  </HeadingPairs>
  <TitlesOfParts>
    <vt:vector size="10" baseType="lpstr">
      <vt:lpstr>Abadi Extra Light</vt:lpstr>
      <vt:lpstr>Arial</vt:lpstr>
      <vt:lpstr>Tw Cen MT</vt:lpstr>
      <vt:lpstr>Circuito</vt:lpstr>
      <vt:lpstr>League of Legends Roles analysis</vt:lpstr>
      <vt:lpstr>Presentazione standard di PowerPoint</vt:lpstr>
      <vt:lpstr>Getting data: Riot Games API</vt:lpstr>
      <vt:lpstr>Centrality studies</vt:lpstr>
      <vt:lpstr>Clustering analysis</vt:lpstr>
      <vt:lpstr>Thanks for your attention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League of Legends Roles’ analysis</dc:title>
  <dc:creator>Alessandro Relato</dc:creator>
  <cp:lastModifiedBy>Alessandro Relato</cp:lastModifiedBy>
  <cp:revision>18</cp:revision>
  <dcterms:created xsi:type="dcterms:W3CDTF">2025-02-05T11:05:32Z</dcterms:created>
  <dcterms:modified xsi:type="dcterms:W3CDTF">2025-02-05T18:16:25Z</dcterms:modified>
</cp:coreProperties>
</file>